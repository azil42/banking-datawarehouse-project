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6" r:id="rId12"/>
  </p:sldIdLst>
  <p:sldSz cx="9144000" cy="5143500" type="screen16x9"/>
  <p:notesSz cx="6858000" cy="9144000"/>
  <p:embeddedFontLst>
    <p:embeddedFont>
      <p:font typeface="Rubik" panose="020B0604020202020204" charset="-79"/>
      <p:regular r:id="rId14"/>
      <p:bold r:id="rId15"/>
      <p:italic r:id="rId16"/>
      <p:boldItalic r:id="rId17"/>
    </p:embeddedFont>
    <p:embeddedFont>
      <p:font typeface="Rubik Light" panose="020B0604020202020204" charset="-79"/>
      <p:regular r:id="rId18"/>
      <p:bold r:id="rId19"/>
      <p:italic r:id="rId20"/>
      <p:boldItalic r:id="rId21"/>
    </p:embeddedFont>
    <p:embeddedFont>
      <p:font typeface="Rubik Medium" panose="020B0604020202020204" charset="-79"/>
      <p:regular r:id="rId22"/>
      <p:bold r:id="rId23"/>
      <p:italic r:id="rId24"/>
      <p:boldItalic r:id="rId25"/>
    </p:embeddedFont>
    <p:embeddedFont>
      <p:font typeface="Rubik SemiBold" panose="020B0604020202020204" charset="-79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imgPNRyAyLAkSnvecW6+hZdaz5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655" autoAdjust="0"/>
  </p:normalViewPr>
  <p:slideViewPr>
    <p:cSldViewPr snapToGrid="0">
      <p:cViewPr varScale="1">
        <p:scale>
          <a:sx n="87" d="100"/>
          <a:sy n="87" d="100"/>
        </p:scale>
        <p:origin x="90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65ee868302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g265ee868302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65ee868302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265ee868302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3ec2985a68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23ec2985a68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3ec2985a68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23ec2985a68_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3ec2985a68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3ec2985a68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3ec2985a68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23ec2985a68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3ec2985a68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23ec2985a68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854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zil42.github.io/portofolio/sertif.html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rive.google.com/file/d/1ThgIZnwEA093lzWgASfR4p7GopcLWcRg/view?usp=sharing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9FAB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9800" y="186500"/>
            <a:ext cx="1399901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/>
          <p:nvPr/>
        </p:nvSpPr>
        <p:spPr>
          <a:xfrm>
            <a:off x="455511" y="1083039"/>
            <a:ext cx="6239100" cy="156963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019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" sz="4500" b="1" dirty="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Banking Data Warehouse &amp; ETL</a:t>
            </a:r>
            <a:endParaRPr sz="2000" b="0" i="0" u="none" strike="noStrike" cap="none" dirty="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517900" y="3130300"/>
            <a:ext cx="7289100" cy="569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019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ID/X Partners</a:t>
            </a:r>
            <a:r>
              <a:rPr lang="en" sz="2500" b="0" i="0" u="none" strike="noStrike" cap="none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 - </a:t>
            </a:r>
            <a:r>
              <a:rPr lang="en" sz="2500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Data Engineer</a:t>
            </a:r>
            <a:endParaRPr sz="2500" b="0" i="0" u="none" strike="noStrike" cap="none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6757125" y="-621925"/>
            <a:ext cx="3135000" cy="3051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1769125" y="172450"/>
            <a:ext cx="457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0" i="0" u="none" strike="noStrike" cap="none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X</a:t>
            </a:r>
            <a:endParaRPr sz="3000" b="0" i="0" u="none" strike="noStrike" cap="none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517900" y="3699700"/>
            <a:ext cx="4392000" cy="954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019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 dirty="0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Presented by</a:t>
            </a:r>
            <a:endParaRPr sz="2000" b="0" i="0" u="none" strike="noStrike" cap="none" dirty="0">
              <a:solidFill>
                <a:schemeClr val="lt1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3000" dirty="0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Siti Khamilatun Nazila</a:t>
            </a:r>
            <a:endParaRPr sz="3000" b="0" i="0" u="none" strike="noStrike" cap="none" dirty="0">
              <a:solidFill>
                <a:schemeClr val="lt1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  <p:pic>
        <p:nvPicPr>
          <p:cNvPr id="61" name="Google Shape;61;p1"/>
          <p:cNvPicPr preferRelativeResize="0"/>
          <p:nvPr/>
        </p:nvPicPr>
        <p:blipFill rotWithShape="1">
          <a:blip r:embed="rId5">
            <a:alphaModFix/>
          </a:blip>
          <a:srcRect t="2079" b="2079"/>
          <a:stretch/>
        </p:blipFill>
        <p:spPr>
          <a:xfrm>
            <a:off x="2246350" y="256450"/>
            <a:ext cx="1328711" cy="47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3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-7818" y="-154236"/>
            <a:ext cx="3504600" cy="5327581"/>
          </a:xfrm>
          <a:prstGeom prst="rect">
            <a:avLst/>
          </a:prstGeom>
          <a:solidFill>
            <a:srgbClr val="019FAB">
              <a:alpha val="4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 txBox="1"/>
          <p:nvPr/>
        </p:nvSpPr>
        <p:spPr>
          <a:xfrm>
            <a:off x="4568091" y="1084526"/>
            <a:ext cx="3504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dirty="0">
                <a:latin typeface="Rubik SemiBold"/>
                <a:ea typeface="Rubik SemiBold"/>
                <a:cs typeface="Rubik SemiBold"/>
                <a:sym typeface="Rubik SemiBold"/>
              </a:rPr>
              <a:t>Siti Khamilatun Nazila</a:t>
            </a:r>
            <a:endParaRPr sz="2000" b="0" i="0" u="none" strike="noStrike" cap="none" dirty="0">
              <a:solidFill>
                <a:srgbClr val="000000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4568091" y="1460377"/>
            <a:ext cx="35046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dirty="0">
                <a:solidFill>
                  <a:srgbClr val="019FAB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Data Engineer Enthusiast</a:t>
            </a:r>
            <a:endParaRPr b="0" i="0" u="none" strike="noStrike" cap="none" dirty="0">
              <a:solidFill>
                <a:srgbClr val="019FAB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DE6BB4-456E-416D-AA7C-BEDDFEE80CB8}"/>
              </a:ext>
            </a:extLst>
          </p:cNvPr>
          <p:cNvGrpSpPr/>
          <p:nvPr/>
        </p:nvGrpSpPr>
        <p:grpSpPr>
          <a:xfrm>
            <a:off x="326576" y="3536673"/>
            <a:ext cx="3855440" cy="1272216"/>
            <a:chOff x="437610" y="3646229"/>
            <a:chExt cx="3855440" cy="1272216"/>
          </a:xfrm>
        </p:grpSpPr>
        <p:sp>
          <p:nvSpPr>
            <p:cNvPr id="80" name="Google Shape;80;p3"/>
            <p:cNvSpPr txBox="1"/>
            <p:nvPr/>
          </p:nvSpPr>
          <p:spPr>
            <a:xfrm>
              <a:off x="788450" y="3646229"/>
              <a:ext cx="3504600" cy="438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sz="1050" dirty="0">
                  <a:latin typeface="Rubik Medium"/>
                  <a:ea typeface="Rubik Medium"/>
                  <a:cs typeface="Rubik Medium"/>
                  <a:sym typeface="Rubik Medium"/>
                </a:rPr>
                <a:t>Gresik, Jawa Timur</a:t>
              </a:r>
              <a:endParaRPr sz="105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endParaRPr>
            </a:p>
          </p:txBody>
        </p:sp>
        <p:pic>
          <p:nvPicPr>
            <p:cNvPr id="81" name="Google Shape;81;p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46904" y="4519763"/>
              <a:ext cx="369300" cy="3637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37610" y="3680853"/>
              <a:ext cx="369300" cy="369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86956" y="4171018"/>
              <a:ext cx="289197" cy="2278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3"/>
            <p:cNvSpPr txBox="1"/>
            <p:nvPr/>
          </p:nvSpPr>
          <p:spPr>
            <a:xfrm>
              <a:off x="788450" y="4491435"/>
              <a:ext cx="3504600" cy="4270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1050" dirty="0">
                  <a:latin typeface="Rubik Medium"/>
                  <a:cs typeface="Rubik Medium"/>
                </a:rPr>
                <a:t>linkedin.com/in/</a:t>
              </a:r>
              <a:r>
                <a:rPr lang="en-US" sz="1050" dirty="0" err="1">
                  <a:latin typeface="Rubik Medium"/>
                  <a:cs typeface="Rubik Medium"/>
                </a:rPr>
                <a:t>sitikhamilatunnazila</a:t>
              </a:r>
              <a:endParaRPr sz="1050" dirty="0">
                <a:latin typeface="Rubik Medium"/>
                <a:cs typeface="Rubik Medium"/>
                <a:sym typeface="Rubik Medium"/>
              </a:endParaRPr>
            </a:p>
          </p:txBody>
        </p:sp>
        <p:sp>
          <p:nvSpPr>
            <p:cNvPr id="85" name="Google Shape;85;p3"/>
            <p:cNvSpPr txBox="1"/>
            <p:nvPr/>
          </p:nvSpPr>
          <p:spPr>
            <a:xfrm>
              <a:off x="776153" y="4082032"/>
              <a:ext cx="3504600" cy="4270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" sz="1050" b="0" i="0" u="none" strike="noStrike" cap="none" dirty="0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  <a:sym typeface="Rubik Medium"/>
                </a:rPr>
                <a:t>khamilatunnazila22@gmail.com</a:t>
              </a:r>
              <a:endParaRPr sz="105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endParaRPr>
            </a:p>
          </p:txBody>
        </p:sp>
      </p:grpSp>
      <p:sp>
        <p:nvSpPr>
          <p:cNvPr id="7" name="Rectangle 4">
            <a:extLst>
              <a:ext uri="{FF2B5EF4-FFF2-40B4-BE49-F238E27FC236}">
                <a16:creationId xmlns:a16="http://schemas.microsoft.com/office/drawing/2014/main" id="{DDD98962-2F84-4F62-9046-91A568111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3486" y="1985194"/>
            <a:ext cx="4713809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300" dirty="0">
                <a:latin typeface="Rubik Medium"/>
                <a:cs typeface="Rubik Medium"/>
              </a:rPr>
              <a:t>Fresh graduate Telecommunication Engineering with passion in data engineering, ETL processes, and database management. Experienced in building data warehouse solutions and optimizing data pipelines. 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0CB0A2F-0325-4980-94AD-555163CD9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3486" y="2965457"/>
            <a:ext cx="4997634" cy="14675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300" dirty="0">
                <a:latin typeface="Rubik Medium"/>
                <a:cs typeface="Rubik Medium"/>
              </a:rPr>
              <a:t>Skills: </a:t>
            </a:r>
          </a:p>
          <a:p>
            <a:pPr marL="171450" marR="0" lvl="0" indent="-1714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en-US" altLang="en-US" sz="1300" dirty="0">
                <a:latin typeface="Rubik Medium"/>
                <a:cs typeface="Rubik Medium"/>
              </a:rPr>
              <a:t>Database: SQL Server, MySQL/MariaDB, ETL Processes </a:t>
            </a:r>
          </a:p>
          <a:p>
            <a:pPr marL="171450" marR="0" lvl="0" indent="-1714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en-US" altLang="en-US" sz="1300" dirty="0">
                <a:latin typeface="Rubik Medium"/>
                <a:cs typeface="Rubik Medium"/>
              </a:rPr>
              <a:t>Tools: Talend, SSMS, Excel, PowerPoint, Word</a:t>
            </a:r>
          </a:p>
          <a:p>
            <a:pPr marL="171450" marR="0" lvl="0" indent="-1714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en-US" altLang="en-US" sz="1300" dirty="0">
                <a:latin typeface="Rubik Medium"/>
                <a:cs typeface="Rubik Medium"/>
              </a:rPr>
              <a:t>Languages: SQL, Python, Java, HTML, CSS, </a:t>
            </a:r>
            <a:r>
              <a:rPr lang="en-US" altLang="en-US" sz="1300" dirty="0" err="1">
                <a:latin typeface="Rubik Medium"/>
                <a:cs typeface="Rubik Medium"/>
              </a:rPr>
              <a:t>Javascript</a:t>
            </a:r>
            <a:endParaRPr lang="en-US" altLang="en-US" sz="1300" dirty="0">
              <a:latin typeface="Rubik Medium"/>
              <a:cs typeface="Rubik Medium"/>
            </a:endParaRPr>
          </a:p>
          <a:p>
            <a:pPr marL="171450" marR="0" lvl="0" indent="-1714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en-US" altLang="en-US" sz="1300" dirty="0">
                <a:latin typeface="Rubik Medium"/>
                <a:cs typeface="Rubik Medium"/>
              </a:rPr>
              <a:t>Others: Data Modeling, Data Warehousing , Documentation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C1D4A8-99EE-4774-91E1-68086F9619E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1176" t="8842" r="8900"/>
          <a:stretch/>
        </p:blipFill>
        <p:spPr>
          <a:xfrm>
            <a:off x="674906" y="606602"/>
            <a:ext cx="2067941" cy="23533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g265ee868302_0_130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g265ee868302_0_130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265ee868302_0_130"/>
          <p:cNvSpPr txBox="1"/>
          <p:nvPr/>
        </p:nvSpPr>
        <p:spPr>
          <a:xfrm>
            <a:off x="340500" y="993338"/>
            <a:ext cx="8653200" cy="406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• </a:t>
            </a:r>
            <a:r>
              <a:rPr lang="en-US" b="1" dirty="0"/>
              <a:t>Cloud Computing | </a:t>
            </a:r>
            <a:r>
              <a:rPr lang="en-US" b="1" dirty="0" err="1">
                <a:solidFill>
                  <a:schemeClr val="accent5"/>
                </a:solidFill>
                <a:latin typeface="Rubik"/>
                <a:cs typeface="Rubik"/>
              </a:rPr>
              <a:t>Digitalent</a:t>
            </a:r>
            <a:r>
              <a:rPr lang="en-US" b="1" dirty="0">
                <a:solidFill>
                  <a:schemeClr val="accent5"/>
                </a:solidFill>
                <a:latin typeface="Rubik"/>
                <a:cs typeface="Rubik"/>
              </a:rPr>
              <a:t> KOMDIGI </a:t>
            </a:r>
            <a:r>
              <a:rPr lang="en-US" b="1" dirty="0">
                <a:solidFill>
                  <a:schemeClr val="tx1"/>
                </a:solidFill>
                <a:latin typeface="Rubik"/>
                <a:cs typeface="Rubik"/>
              </a:rPr>
              <a:t>|</a:t>
            </a:r>
            <a:r>
              <a:rPr lang="en-US" b="1" dirty="0">
                <a:solidFill>
                  <a:schemeClr val="accent5"/>
                </a:solidFill>
                <a:latin typeface="Rubik"/>
                <a:cs typeface="Rubik"/>
              </a:rPr>
              <a:t> 2025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Intermediate Junior Web Developer | </a:t>
            </a:r>
            <a:r>
              <a:rPr lang="en-US" b="1" dirty="0" err="1">
                <a:solidFill>
                  <a:schemeClr val="accent5"/>
                </a:solidFill>
                <a:latin typeface="Rubik"/>
                <a:cs typeface="Rubik"/>
              </a:rPr>
              <a:t>Digitalent</a:t>
            </a:r>
            <a:r>
              <a:rPr lang="en-US" b="1" dirty="0">
                <a:solidFill>
                  <a:schemeClr val="accent5"/>
                </a:solidFill>
                <a:latin typeface="Rubik"/>
                <a:cs typeface="Rubik"/>
              </a:rPr>
              <a:t> KOMDIGI </a:t>
            </a:r>
            <a:r>
              <a:rPr lang="en-US" b="1" dirty="0">
                <a:solidFill>
                  <a:schemeClr val="tx1"/>
                </a:solidFill>
                <a:latin typeface="Rubik"/>
                <a:cs typeface="Rubik"/>
              </a:rPr>
              <a:t>|</a:t>
            </a:r>
            <a:r>
              <a:rPr lang="en-US" b="1" dirty="0">
                <a:solidFill>
                  <a:schemeClr val="accent5"/>
                </a:solidFill>
                <a:latin typeface="Rubik"/>
                <a:cs typeface="Rubik"/>
              </a:rPr>
              <a:t> 2025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Fundamental Junior Web Developer | </a:t>
            </a:r>
            <a:r>
              <a:rPr lang="en-US" b="1" dirty="0" err="1">
                <a:solidFill>
                  <a:schemeClr val="accent5"/>
                </a:solidFill>
                <a:latin typeface="Rubik"/>
                <a:cs typeface="Rubik"/>
              </a:rPr>
              <a:t>Digitalent</a:t>
            </a:r>
            <a:r>
              <a:rPr lang="en-US" b="1" dirty="0">
                <a:solidFill>
                  <a:schemeClr val="accent5"/>
                </a:solidFill>
                <a:latin typeface="Rubik"/>
                <a:cs typeface="Rubik"/>
              </a:rPr>
              <a:t> KOMDIGI </a:t>
            </a:r>
            <a:r>
              <a:rPr lang="en-US" b="1" dirty="0">
                <a:solidFill>
                  <a:schemeClr val="tx1"/>
                </a:solidFill>
                <a:latin typeface="Rubik"/>
                <a:cs typeface="Rubik"/>
              </a:rPr>
              <a:t>|</a:t>
            </a:r>
            <a:r>
              <a:rPr lang="en-US" b="1" dirty="0">
                <a:solidFill>
                  <a:schemeClr val="accent5"/>
                </a:solidFill>
                <a:latin typeface="Rubik"/>
                <a:cs typeface="Rubik"/>
              </a:rPr>
              <a:t> 2025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 err="1"/>
              <a:t>Konsep</a:t>
            </a:r>
            <a:r>
              <a:rPr lang="en-US" b="1" dirty="0"/>
              <a:t> </a:t>
            </a:r>
            <a:r>
              <a:rPr lang="en-US" b="1" dirty="0" err="1"/>
              <a:t>Pemrograman</a:t>
            </a:r>
            <a:r>
              <a:rPr lang="en-US" b="1" dirty="0"/>
              <a:t> | </a:t>
            </a:r>
            <a:r>
              <a:rPr lang="en-US" b="1" dirty="0" err="1">
                <a:solidFill>
                  <a:schemeClr val="accent5"/>
                </a:solidFill>
                <a:latin typeface="Rubik"/>
                <a:cs typeface="Rubik"/>
              </a:rPr>
              <a:t>Digitalent</a:t>
            </a:r>
            <a:r>
              <a:rPr lang="en-US" b="1" dirty="0">
                <a:solidFill>
                  <a:schemeClr val="accent5"/>
                </a:solidFill>
                <a:latin typeface="Rubik"/>
                <a:cs typeface="Rubik"/>
              </a:rPr>
              <a:t> KOMDIGI </a:t>
            </a:r>
            <a:r>
              <a:rPr lang="en-US" b="1" dirty="0">
                <a:solidFill>
                  <a:schemeClr val="tx1"/>
                </a:solidFill>
                <a:latin typeface="Rubik"/>
                <a:cs typeface="Rubik"/>
              </a:rPr>
              <a:t>|</a:t>
            </a:r>
            <a:r>
              <a:rPr lang="en-US" b="1" dirty="0">
                <a:solidFill>
                  <a:schemeClr val="accent5"/>
                </a:solidFill>
                <a:latin typeface="Rubik"/>
                <a:cs typeface="Rubik"/>
              </a:rPr>
              <a:t> 2025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AI Development | </a:t>
            </a:r>
            <a:r>
              <a:rPr lang="en-US" b="1" dirty="0" err="1">
                <a:solidFill>
                  <a:schemeClr val="accent5"/>
                </a:solidFill>
                <a:latin typeface="Rubik"/>
                <a:cs typeface="Rubik"/>
              </a:rPr>
              <a:t>Digitalent</a:t>
            </a:r>
            <a:r>
              <a:rPr lang="en-US" b="1" dirty="0">
                <a:solidFill>
                  <a:schemeClr val="accent5"/>
                </a:solidFill>
                <a:latin typeface="Rubik"/>
                <a:cs typeface="Rubik"/>
              </a:rPr>
              <a:t> KOMDIGI </a:t>
            </a:r>
            <a:r>
              <a:rPr lang="en-US" b="1" dirty="0">
                <a:solidFill>
                  <a:schemeClr val="tx1"/>
                </a:solidFill>
                <a:latin typeface="Rubik"/>
                <a:cs typeface="Rubik"/>
              </a:rPr>
              <a:t>|</a:t>
            </a:r>
            <a:r>
              <a:rPr lang="en-US" b="1" dirty="0">
                <a:solidFill>
                  <a:schemeClr val="accent5"/>
                </a:solidFill>
                <a:latin typeface="Rubik"/>
                <a:cs typeface="Rubik"/>
              </a:rPr>
              <a:t> 2025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Alibaba Cloud Studio &amp; </a:t>
            </a:r>
            <a:r>
              <a:rPr lang="en-US" b="1" dirty="0" err="1"/>
              <a:t>Gwend</a:t>
            </a:r>
            <a:r>
              <a:rPr lang="en-US" b="1" dirty="0"/>
              <a:t> | </a:t>
            </a:r>
            <a:r>
              <a:rPr lang="en-US" b="1" dirty="0">
                <a:solidFill>
                  <a:schemeClr val="accent5"/>
                </a:solidFill>
                <a:latin typeface="Rubik"/>
                <a:cs typeface="Rubik"/>
              </a:rPr>
              <a:t>Alibaba Cloud </a:t>
            </a:r>
            <a:r>
              <a:rPr lang="en-US" b="1" dirty="0">
                <a:solidFill>
                  <a:schemeClr val="tx1"/>
                </a:solidFill>
                <a:latin typeface="Rubik"/>
                <a:cs typeface="Rubik"/>
              </a:rPr>
              <a:t>|</a:t>
            </a:r>
            <a:r>
              <a:rPr lang="en-US" b="1" dirty="0">
                <a:solidFill>
                  <a:schemeClr val="accent5"/>
                </a:solidFill>
                <a:latin typeface="Rubik"/>
                <a:cs typeface="Rubik"/>
              </a:rPr>
              <a:t> 2025</a:t>
            </a:r>
          </a:p>
          <a:p>
            <a:pPr>
              <a:lnSpc>
                <a:spcPct val="150000"/>
              </a:lnSpc>
            </a:pPr>
            <a:r>
              <a:rPr lang="en-US" dirty="0"/>
              <a:t>• </a:t>
            </a:r>
            <a:r>
              <a:rPr lang="en-US" b="1" dirty="0"/>
              <a:t>IoT Fundamentals | </a:t>
            </a:r>
            <a:r>
              <a:rPr lang="en-US" b="1" dirty="0">
                <a:solidFill>
                  <a:schemeClr val="accent5"/>
                </a:solidFill>
                <a:latin typeface="Rubik"/>
                <a:cs typeface="Rubik"/>
              </a:rPr>
              <a:t>Huawei </a:t>
            </a:r>
            <a:r>
              <a:rPr lang="en-US" b="1" dirty="0">
                <a:solidFill>
                  <a:schemeClr val="tx1"/>
                </a:solidFill>
                <a:latin typeface="Rubik"/>
                <a:cs typeface="Rubik"/>
              </a:rPr>
              <a:t>|</a:t>
            </a:r>
            <a:r>
              <a:rPr lang="en-US" b="1" dirty="0">
                <a:solidFill>
                  <a:schemeClr val="accent5"/>
                </a:solidFill>
                <a:latin typeface="Rubik"/>
                <a:cs typeface="Rubik"/>
              </a:rPr>
              <a:t> 2024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Network Security | </a:t>
            </a:r>
            <a:r>
              <a:rPr lang="en-US" b="1" dirty="0">
                <a:solidFill>
                  <a:schemeClr val="accent5"/>
                </a:solidFill>
                <a:latin typeface="Rubik"/>
                <a:cs typeface="Rubik"/>
              </a:rPr>
              <a:t>Huawei </a:t>
            </a:r>
            <a:r>
              <a:rPr lang="en-US" b="1" dirty="0">
                <a:solidFill>
                  <a:schemeClr val="tx1"/>
                </a:solidFill>
                <a:latin typeface="Rubik"/>
                <a:cs typeface="Rubik"/>
              </a:rPr>
              <a:t>|</a:t>
            </a:r>
            <a:r>
              <a:rPr lang="en-US" b="1" dirty="0">
                <a:solidFill>
                  <a:schemeClr val="accent5"/>
                </a:solidFill>
                <a:latin typeface="Rubik"/>
                <a:cs typeface="Rubik"/>
              </a:rPr>
              <a:t> 2024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Data Science (AI/ML) - Talent Scouting Academy </a:t>
            </a:r>
            <a:r>
              <a:rPr lang="en-US" b="1" dirty="0">
                <a:solidFill>
                  <a:schemeClr val="tx1"/>
                </a:solidFill>
                <a:latin typeface="Rubik"/>
                <a:cs typeface="Rubik"/>
              </a:rPr>
              <a:t>|</a:t>
            </a:r>
            <a:r>
              <a:rPr lang="en-US" b="1" dirty="0">
                <a:solidFill>
                  <a:schemeClr val="accent5"/>
                </a:solidFill>
                <a:latin typeface="Rubik"/>
                <a:cs typeface="Rubik"/>
              </a:rPr>
              <a:t> </a:t>
            </a:r>
            <a:r>
              <a:rPr lang="en-US" b="1" dirty="0" err="1">
                <a:solidFill>
                  <a:schemeClr val="accent5"/>
                </a:solidFill>
                <a:latin typeface="Rubik"/>
                <a:cs typeface="Rubik"/>
              </a:rPr>
              <a:t>Digitalent</a:t>
            </a:r>
            <a:r>
              <a:rPr lang="en-US" b="1" dirty="0">
                <a:solidFill>
                  <a:schemeClr val="accent5"/>
                </a:solidFill>
                <a:latin typeface="Rubik"/>
                <a:cs typeface="Rubik"/>
              </a:rPr>
              <a:t> KOMDIGI </a:t>
            </a:r>
            <a:r>
              <a:rPr lang="en-US" b="1" dirty="0">
                <a:solidFill>
                  <a:schemeClr val="tx1"/>
                </a:solidFill>
                <a:latin typeface="Rubik"/>
                <a:cs typeface="Rubik"/>
              </a:rPr>
              <a:t>|</a:t>
            </a:r>
            <a:r>
              <a:rPr lang="en-US" b="1" dirty="0">
                <a:solidFill>
                  <a:schemeClr val="accent5"/>
                </a:solidFill>
                <a:latin typeface="Rubik"/>
                <a:cs typeface="Rubik"/>
              </a:rPr>
              <a:t> 2024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Junior Network Administrator </a:t>
            </a:r>
            <a:r>
              <a:rPr lang="en-US" b="1" dirty="0">
                <a:solidFill>
                  <a:schemeClr val="tx1"/>
                </a:solidFill>
                <a:latin typeface="Rubik"/>
                <a:cs typeface="Rubik"/>
              </a:rPr>
              <a:t>|</a:t>
            </a:r>
            <a:r>
              <a:rPr lang="en-US" b="1" dirty="0">
                <a:solidFill>
                  <a:schemeClr val="accent5"/>
                </a:solidFill>
                <a:latin typeface="Rubik"/>
                <a:cs typeface="Rubik"/>
              </a:rPr>
              <a:t> BNSP </a:t>
            </a:r>
            <a:r>
              <a:rPr lang="en-US" b="1" dirty="0">
                <a:solidFill>
                  <a:schemeClr val="tx1"/>
                </a:solidFill>
                <a:latin typeface="Rubik"/>
                <a:cs typeface="Rubik"/>
              </a:rPr>
              <a:t>|</a:t>
            </a:r>
            <a:r>
              <a:rPr lang="en-US" b="1" dirty="0">
                <a:solidFill>
                  <a:schemeClr val="accent5"/>
                </a:solidFill>
                <a:latin typeface="Rubik"/>
                <a:cs typeface="Rubik"/>
              </a:rPr>
              <a:t> 2024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Access Network Planning | </a:t>
            </a:r>
            <a:r>
              <a:rPr lang="en-US" b="1" dirty="0">
                <a:solidFill>
                  <a:schemeClr val="accent5"/>
                </a:solidFill>
                <a:latin typeface="Rubik"/>
                <a:cs typeface="Rubik"/>
              </a:rPr>
              <a:t>BNSP </a:t>
            </a:r>
            <a:r>
              <a:rPr lang="en-US" b="1" dirty="0">
                <a:solidFill>
                  <a:schemeClr val="tx1"/>
                </a:solidFill>
                <a:latin typeface="Rubik"/>
                <a:cs typeface="Rubik"/>
              </a:rPr>
              <a:t>|</a:t>
            </a:r>
            <a:r>
              <a:rPr lang="en-US" b="1" dirty="0">
                <a:solidFill>
                  <a:schemeClr val="accent5"/>
                </a:solidFill>
                <a:latin typeface="Rubik"/>
                <a:cs typeface="Rubik"/>
              </a:rPr>
              <a:t> 2024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Junior Network Administrator | </a:t>
            </a:r>
            <a:r>
              <a:rPr lang="en-US" b="1" dirty="0" err="1">
                <a:solidFill>
                  <a:schemeClr val="accent5"/>
                </a:solidFill>
                <a:latin typeface="Rubik"/>
                <a:cs typeface="Rubik"/>
              </a:rPr>
              <a:t>Digitalent</a:t>
            </a:r>
            <a:r>
              <a:rPr lang="en-US" b="1" dirty="0">
                <a:solidFill>
                  <a:schemeClr val="accent5"/>
                </a:solidFill>
                <a:latin typeface="Rubik"/>
                <a:cs typeface="Rubik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Rubik"/>
                <a:cs typeface="Rubik"/>
              </a:rPr>
              <a:t>|</a:t>
            </a:r>
            <a:r>
              <a:rPr lang="en-US" b="1" dirty="0">
                <a:solidFill>
                  <a:schemeClr val="accent5"/>
                </a:solidFill>
                <a:latin typeface="Rubik"/>
                <a:cs typeface="Rubik"/>
              </a:rPr>
              <a:t> 2024</a:t>
            </a:r>
          </a:p>
        </p:txBody>
      </p:sp>
      <p:sp>
        <p:nvSpPr>
          <p:cNvPr id="93" name="Google Shape;93;g265ee868302_0_130"/>
          <p:cNvSpPr txBox="1"/>
          <p:nvPr/>
        </p:nvSpPr>
        <p:spPr>
          <a:xfrm>
            <a:off x="340500" y="430005"/>
            <a:ext cx="8463000" cy="6465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098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" sz="3000" b="1" i="0" u="none" strike="noStrike" cap="non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Courses and </a:t>
            </a:r>
            <a:r>
              <a:rPr lang="en" sz="3000" b="1" i="0" u="none" strike="noStrike" cap="non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Certification</a:t>
            </a:r>
            <a:endParaRPr sz="3000" b="1" i="0" u="none" strike="noStrike" cap="none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" name="Google Shape;113;g265ee868302_0_99">
            <a:extLst>
              <a:ext uri="{FF2B5EF4-FFF2-40B4-BE49-F238E27FC236}">
                <a16:creationId xmlns:a16="http://schemas.microsoft.com/office/drawing/2014/main" id="{CDDA37FA-392E-4E5F-9DAD-72FE4F03E452}"/>
              </a:ext>
            </a:extLst>
          </p:cNvPr>
          <p:cNvSpPr txBox="1"/>
          <p:nvPr/>
        </p:nvSpPr>
        <p:spPr>
          <a:xfrm>
            <a:off x="6840011" y="4494820"/>
            <a:ext cx="30891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View certificates </a:t>
            </a:r>
            <a:r>
              <a:rPr lang="en" sz="1200" b="1" i="0" u="none" strike="noStrike" cap="none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  <a:hlinkClick r:id="rId5"/>
              </a:rPr>
              <a:t>here</a:t>
            </a:r>
            <a:r>
              <a:rPr lang="en" sz="1200" b="1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4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4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 txBox="1"/>
          <p:nvPr/>
        </p:nvSpPr>
        <p:spPr>
          <a:xfrm>
            <a:off x="340500" y="452038"/>
            <a:ext cx="8463000" cy="6465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098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" sz="3000" b="1" i="0" u="none" strike="noStrike" cap="non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About </a:t>
            </a:r>
            <a:r>
              <a:rPr lang="en" sz="3000" b="1" i="0" u="none" strike="noStrike" cap="non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Company</a:t>
            </a:r>
            <a:endParaRPr sz="3000" b="1" i="0" u="none" strike="noStrike" cap="none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104" name="Google Shape;104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71837" y="1098538"/>
            <a:ext cx="2257425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049500B-9CB7-4BD3-81A0-5DC8B0171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71" y="2002614"/>
            <a:ext cx="8199058" cy="246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solidFill>
                  <a:schemeClr val="accent5"/>
                </a:solidFill>
                <a:latin typeface="Rubik"/>
                <a:cs typeface="Rubik"/>
              </a:rPr>
              <a:t>ID/X Partners (PT IDX Consulting) </a:t>
            </a:r>
            <a:r>
              <a:rPr lang="en-US" altLang="en-US" sz="1200" b="1" dirty="0">
                <a:latin typeface="Rubik"/>
                <a:cs typeface="Rubik"/>
              </a:rPr>
              <a:t>is a technology consulting company based in </a:t>
            </a:r>
            <a:r>
              <a:rPr lang="en-US" altLang="en-US" sz="1200" b="1" dirty="0">
                <a:solidFill>
                  <a:schemeClr val="accent5"/>
                </a:solidFill>
                <a:latin typeface="Rubik"/>
                <a:cs typeface="Rubik"/>
              </a:rPr>
              <a:t>Jakarta, Indonesia</a:t>
            </a:r>
            <a:r>
              <a:rPr lang="en-US" altLang="en-US" sz="1200" b="1" dirty="0">
                <a:latin typeface="Rubik"/>
                <a:cs typeface="Rubik"/>
              </a:rPr>
              <a:t>, specializing in </a:t>
            </a:r>
            <a:r>
              <a:rPr lang="en-US" altLang="en-US" sz="1200" b="1" dirty="0">
                <a:solidFill>
                  <a:schemeClr val="accent5"/>
                </a:solidFill>
                <a:latin typeface="Rubik"/>
                <a:cs typeface="Rubik"/>
              </a:rPr>
              <a:t>data analytics, decision systems, and Regulatory Technology (</a:t>
            </a:r>
            <a:r>
              <a:rPr lang="en-US" altLang="en-US" sz="1200" b="1" dirty="0" err="1">
                <a:solidFill>
                  <a:schemeClr val="accent5"/>
                </a:solidFill>
                <a:latin typeface="Rubik"/>
                <a:cs typeface="Rubik"/>
              </a:rPr>
              <a:t>RegTech</a:t>
            </a:r>
            <a:r>
              <a:rPr lang="en-US" altLang="en-US" sz="1200" b="1" dirty="0">
                <a:solidFill>
                  <a:schemeClr val="accent5"/>
                </a:solidFill>
                <a:latin typeface="Rubik"/>
                <a:cs typeface="Rubik"/>
              </a:rPr>
              <a:t>)</a:t>
            </a:r>
            <a:r>
              <a:rPr lang="en-US" altLang="en-US" sz="1200" b="1" dirty="0">
                <a:latin typeface="Rubik"/>
                <a:cs typeface="Rubik"/>
              </a:rPr>
              <a:t>. The company provides innovative solutions that help organizations, particularly in the financial sector, such as banks, </a:t>
            </a:r>
            <a:r>
              <a:rPr lang="en-US" altLang="en-US" sz="1200" b="1" dirty="0" err="1">
                <a:latin typeface="Rubik"/>
                <a:cs typeface="Rubik"/>
              </a:rPr>
              <a:t>fintechs</a:t>
            </a:r>
            <a:r>
              <a:rPr lang="en-US" altLang="en-US" sz="1200" b="1" dirty="0">
                <a:latin typeface="Rubik"/>
                <a:cs typeface="Rubik"/>
              </a:rPr>
              <a:t>, and insurance companies, make data-driven decisions and improve operational efficiency.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b="1" dirty="0">
              <a:latin typeface="Rubik"/>
              <a:cs typeface="Rubik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b="1" dirty="0">
                <a:latin typeface="Rubik"/>
                <a:cs typeface="Rubik"/>
              </a:rPr>
              <a:t>With a team of over 200 professionals and more than 75 clients across various industries, ID/X Partners offers expertise in </a:t>
            </a:r>
            <a:r>
              <a:rPr lang="en-US" altLang="en-US" sz="1200" b="1" dirty="0">
                <a:solidFill>
                  <a:schemeClr val="accent5"/>
                </a:solidFill>
                <a:latin typeface="Rubik"/>
                <a:cs typeface="Rubik"/>
              </a:rPr>
              <a:t>data analytics, business intelligence, decision engines, and big data solutions</a:t>
            </a:r>
            <a:r>
              <a:rPr lang="en-US" altLang="en-US" sz="1200" b="1" dirty="0">
                <a:latin typeface="Rubik"/>
                <a:cs typeface="Rubik"/>
              </a:rPr>
              <a:t>. The company is recognized for its strong focus on leveraging data and advanced technology to optimize business processes and support digital transformation.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265ee868302_0_99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265ee868302_0_99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265ee868302_0_99"/>
          <p:cNvSpPr txBox="1"/>
          <p:nvPr/>
        </p:nvSpPr>
        <p:spPr>
          <a:xfrm>
            <a:off x="340500" y="452038"/>
            <a:ext cx="8463000" cy="6465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098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" sz="3000" b="1" i="0" u="none" strike="noStrike" cap="non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Project </a:t>
            </a:r>
            <a:r>
              <a:rPr lang="en" sz="3000" b="1" i="0" u="none" strike="noStrike" cap="non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Portfolio</a:t>
            </a:r>
            <a:endParaRPr sz="3000" b="1" i="0" u="none" strike="noStrike" cap="none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CD64A0-AC10-4362-8EC0-F82DF3552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4596" y="1231810"/>
            <a:ext cx="3603551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Rubik"/>
                <a:cs typeface="Rubik"/>
              </a:rPr>
              <a:t>Banking Data Warehouse &amp; ETL Solution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72E85D-B117-4E6D-A0EE-01025CA31BFD}"/>
              </a:ext>
            </a:extLst>
          </p:cNvPr>
          <p:cNvSpPr txBox="1"/>
          <p:nvPr/>
        </p:nvSpPr>
        <p:spPr>
          <a:xfrm>
            <a:off x="489245" y="1591857"/>
            <a:ext cx="831425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Rubik" panose="020B0604020202020204" charset="-79"/>
                <a:cs typeface="Rubik" panose="020B0604020202020204" charset="-79"/>
              </a:rPr>
              <a:t>Background:</a:t>
            </a:r>
          </a:p>
          <a:p>
            <a:r>
              <a:rPr lang="en-US" dirty="0">
                <a:latin typeface="Rubik" panose="020B0604020202020204" charset="-79"/>
                <a:cs typeface="Rubik" panose="020B0604020202020204" charset="-79"/>
              </a:rPr>
              <a:t>Client in banking industry faced challenges consolidating data from multiple sources (Excel, CSV, SQL Database) causing delayed reporting and analysis.</a:t>
            </a:r>
          </a:p>
          <a:p>
            <a:endParaRPr lang="en-US" dirty="0">
              <a:latin typeface="Rubik" panose="020B0604020202020204" charset="-79"/>
              <a:cs typeface="Rubik" panose="020B0604020202020204" charset="-79"/>
            </a:endParaRPr>
          </a:p>
          <a:p>
            <a:r>
              <a:rPr lang="en-US" b="1" dirty="0">
                <a:latin typeface="Rubik" panose="020B0604020202020204" charset="-79"/>
                <a:cs typeface="Rubik" panose="020B0604020202020204" charset="-79"/>
              </a:rPr>
              <a:t>Problem Statement: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Rubik" panose="020B0604020202020204" charset="-79"/>
                <a:cs typeface="Rubik" panose="020B0604020202020204" charset="-79"/>
              </a:rPr>
              <a:t>Data scattered across 8 different sources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Rubik" panose="020B0604020202020204" charset="-79"/>
                <a:cs typeface="Rubik" panose="020B0604020202020204" charset="-79"/>
              </a:rPr>
              <a:t>Manual data consolidation processes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Rubik" panose="020B0604020202020204" charset="-79"/>
                <a:cs typeface="Rubik" panose="020B0604020202020204" charset="-79"/>
              </a:rPr>
              <a:t>Inefficient reporting system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Rubik" panose="020B0604020202020204" charset="-79"/>
                <a:cs typeface="Rubik" panose="020B0604020202020204" charset="-79"/>
              </a:rPr>
              <a:t>Lack of centralized data repository</a:t>
            </a:r>
          </a:p>
          <a:p>
            <a:endParaRPr lang="en-US" dirty="0">
              <a:latin typeface="Rubik" panose="020B0604020202020204" charset="-79"/>
              <a:cs typeface="Rubik" panose="020B0604020202020204" charset="-79"/>
            </a:endParaRPr>
          </a:p>
          <a:p>
            <a:r>
              <a:rPr lang="en-US" b="1" dirty="0">
                <a:latin typeface="Rubik" panose="020B0604020202020204" charset="-79"/>
                <a:cs typeface="Rubik" panose="020B0604020202020204" charset="-79"/>
              </a:rPr>
              <a:t>Available Data Sources: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Rubik" panose="020B0604020202020204" charset="-79"/>
                <a:cs typeface="Rubik" panose="020B0604020202020204" charset="-79"/>
              </a:rPr>
              <a:t>transaction_excel.xlsx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Rubik" panose="020B0604020202020204" charset="-79"/>
                <a:cs typeface="Rubik" panose="020B0604020202020204" charset="-79"/>
              </a:rPr>
              <a:t>transaction_csv.csv 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Rubik" panose="020B0604020202020204" charset="-79"/>
                <a:cs typeface="Rubik" panose="020B0604020202020204" charset="-79"/>
              </a:rPr>
              <a:t>Database Sample</a:t>
            </a:r>
          </a:p>
        </p:txBody>
      </p:sp>
      <p:sp>
        <p:nvSpPr>
          <p:cNvPr id="113" name="Google Shape;113;g265ee868302_0_99"/>
          <p:cNvSpPr txBox="1"/>
          <p:nvPr/>
        </p:nvSpPr>
        <p:spPr>
          <a:xfrm>
            <a:off x="6091783" y="4302814"/>
            <a:ext cx="30891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Project explanation video </a:t>
            </a:r>
            <a:r>
              <a:rPr lang="en" sz="1200" b="1" i="0" u="none" strike="noStrike" cap="none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  <a:hlinkClick r:id="rId5"/>
              </a:rPr>
              <a:t>here</a:t>
            </a:r>
            <a:r>
              <a:rPr lang="en" sz="1200" b="1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23ec2985a68_1_33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23ec2985a68_1_33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23ec2985a68_1_33"/>
          <p:cNvSpPr txBox="1"/>
          <p:nvPr/>
        </p:nvSpPr>
        <p:spPr>
          <a:xfrm>
            <a:off x="340500" y="452038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098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/>
            </a:pPr>
            <a:r>
              <a:rPr lang="en" sz="2700" b="1">
                <a:latin typeface="Rubik"/>
                <a:ea typeface="Rubik"/>
                <a:cs typeface="Rubik"/>
                <a:sym typeface="Rubik"/>
              </a:rPr>
              <a:t>Data Warehouse Creation</a:t>
            </a:r>
            <a:endParaRPr sz="2700" b="1" i="0" u="none" strike="noStrike" cap="non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E7F401-71C9-4EFF-AF79-89A1A4B29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742" y="1065824"/>
            <a:ext cx="3316077" cy="1354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Strategy: 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Designed star schema data warehouse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Created 3 dimension tables + 1 fact table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Implemented proper PK-FK relationships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Optimized for query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performance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3BEB35-0F84-4B9D-9903-D681F85B0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742" y="2459183"/>
            <a:ext cx="3609963" cy="1354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Results: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Database 'DWH' created successfully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DimAccount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DimCustomer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DimBranch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 tables </a:t>
            </a:r>
            <a:endParaRPr lang="en-US" altLang="en-US" sz="1200" dirty="0">
              <a:solidFill>
                <a:srgbClr val="0F1115"/>
              </a:solidFill>
              <a:latin typeface="Rubik" panose="020B0604020202020204" charset="-79"/>
              <a:cs typeface="Rubik" panose="020B0604020202020204" charset="-79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FactTransaction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 table with proper relationships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All tables populated with sample data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455F65-C5D2-4099-8CF1-FB2965D27B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2517" y="1125340"/>
            <a:ext cx="4649118" cy="12783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AAAD6A-2B80-4E54-9FC2-F7BA95AF1D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129" y="2454314"/>
            <a:ext cx="2817427" cy="24026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1E5EFC5-B065-49B6-94A2-495D7D6FFE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07560" y="3909254"/>
            <a:ext cx="1431642" cy="10375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25E03C9-81E6-463B-9476-BBB7CEF540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552" y="3985456"/>
            <a:ext cx="1636892" cy="75644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4113AEE-78E5-41E5-AE83-047B8A237B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2980" y="2454314"/>
            <a:ext cx="1608655" cy="131837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565C79F-F58E-49E0-A0A7-AF610888849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8672" y="3823330"/>
            <a:ext cx="1528710" cy="10560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g23ec2985a68_1_42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23ec2985a68_1_42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23ec2985a68_1_42"/>
          <p:cNvSpPr txBox="1"/>
          <p:nvPr/>
        </p:nvSpPr>
        <p:spPr>
          <a:xfrm>
            <a:off x="340500" y="452038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098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2"/>
            </a:pPr>
            <a:r>
              <a:rPr lang="en" sz="2700" b="1">
                <a:latin typeface="Rubik"/>
                <a:ea typeface="Rubik"/>
                <a:cs typeface="Rubik"/>
                <a:sym typeface="Rubik"/>
              </a:rPr>
              <a:t>Create ETL Job for Dimension Table</a:t>
            </a:r>
            <a:endParaRPr sz="2700" b="1" i="0" u="none" strike="noStrike" cap="non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002EB5-3258-471D-BB81-58E87BD0C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864" y="1091124"/>
            <a:ext cx="4566076" cy="3293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Strategy: </a:t>
            </a:r>
            <a:endParaRPr lang="en-US" altLang="en-US" sz="1200" b="1" dirty="0">
              <a:solidFill>
                <a:srgbClr val="0F1115"/>
              </a:solidFill>
              <a:latin typeface="Rubik" panose="020B0604020202020204" charset="-79"/>
              <a:cs typeface="Rubik" panose="020B0604020202020204" charset="-79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Used Talend Open Studio for ETL processes </a:t>
            </a:r>
            <a:endParaRPr lang="en-US" altLang="en-US" sz="1200" dirty="0">
              <a:solidFill>
                <a:srgbClr val="0F1115"/>
              </a:solidFill>
              <a:latin typeface="Rubik" panose="020B0604020202020204" charset="-79"/>
              <a:cs typeface="Rubik" panose="020B0604020202020204" charset="-79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Implemented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tMap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 for data transformation 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Applied uppercase conversion for text fields (except ID, Age, Email) 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Joined multiple tables for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DimCustomer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 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1200" dirty="0">
              <a:solidFill>
                <a:srgbClr val="0F1115"/>
              </a:solidFill>
              <a:latin typeface="Rubik" panose="020B0604020202020204" charset="-79"/>
              <a:cs typeface="Rubik" panose="020B0604020202020204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Results: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CustomerName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, Address,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CityName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StateName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 → UPPERCASE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PascalCase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 column naming convention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Data integration from customer, city, state tables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C07C58-DB8D-41FD-AD9D-DEF84E6F42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7592" y="1052338"/>
            <a:ext cx="3007256" cy="15127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D6ADB1-D232-4498-8921-3B03A63496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4938" y="2664772"/>
            <a:ext cx="3572564" cy="22225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23ec2985a68_1_49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23ec2985a68_1_49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23ec2985a68_1_49"/>
          <p:cNvSpPr txBox="1"/>
          <p:nvPr/>
        </p:nvSpPr>
        <p:spPr>
          <a:xfrm>
            <a:off x="340500" y="452038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098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3"/>
            </a:pPr>
            <a:r>
              <a:rPr lang="en" sz="2700" b="1">
                <a:latin typeface="Rubik"/>
                <a:ea typeface="Rubik"/>
                <a:cs typeface="Rubik"/>
                <a:sym typeface="Rubik"/>
              </a:rPr>
              <a:t>Create ETL Job for Fact Table</a:t>
            </a:r>
            <a:endParaRPr sz="2700" b="1" i="0" u="none" strike="noStrike" cap="non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A102FC-90AC-41C6-B7A4-F38A2CA48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679" y="1008092"/>
            <a:ext cx="4347344" cy="2739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Strategy: 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Consolidated data from 3 sources (Excel, CSV, Database) 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Used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tUnite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 to combine data streams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Implemented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tUniqRow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 to remove duplicates 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Mapped to dimension keys using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tMap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 </a:t>
            </a:r>
          </a:p>
          <a:p>
            <a:pPr marL="228600" marR="0" lvl="0" indent="-2286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1200" dirty="0">
              <a:solidFill>
                <a:srgbClr val="0F1115"/>
              </a:solidFill>
              <a:latin typeface="Rubik" panose="020B0604020202020204" charset="-79"/>
              <a:cs typeface="Rubik" panose="020B0604020202020204" charset="-79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Data Quality Assurance: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No duplicate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TransactionID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Valid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AccountID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 and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BranchID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 references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Complete data integrity maintained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C48968-01D0-4DEE-BA1C-8112B8B524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1821" y="1052338"/>
            <a:ext cx="3581831" cy="1684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6EA58F-CD6E-4DAA-A7E9-E3DF9C3732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9505" y="2886413"/>
            <a:ext cx="2891801" cy="2063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8265E1-0EDB-450A-80D0-D255C67142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645" y="3871067"/>
            <a:ext cx="2579449" cy="10787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9729D1-F7C1-4FF1-99A7-E3187BF42CB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51865"/>
          <a:stretch/>
        </p:blipFill>
        <p:spPr>
          <a:xfrm>
            <a:off x="6828543" y="2886413"/>
            <a:ext cx="1391954" cy="11385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DED1CB-0DD3-451E-B622-64E40D1E07F1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53424"/>
          <a:stretch/>
        </p:blipFill>
        <p:spPr>
          <a:xfrm>
            <a:off x="7431057" y="3871067"/>
            <a:ext cx="1251192" cy="10576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23ec2985a68_1_56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3ec2985a68_1_56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23ec2985a68_1_56"/>
          <p:cNvSpPr txBox="1"/>
          <p:nvPr/>
        </p:nvSpPr>
        <p:spPr>
          <a:xfrm>
            <a:off x="340500" y="452038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098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4"/>
            </a:pPr>
            <a:r>
              <a:rPr lang="en" sz="2700" b="1" dirty="0">
                <a:latin typeface="Rubik"/>
                <a:ea typeface="Rubik"/>
                <a:cs typeface="Rubik"/>
                <a:sym typeface="Rubik"/>
              </a:rPr>
              <a:t>Create Stored Procedure</a:t>
            </a:r>
            <a:endParaRPr sz="27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8E8ADD-3BE4-4B47-A414-E618CAEFA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440" y="1318751"/>
            <a:ext cx="2911053" cy="1077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DailyTransaction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 SP: </a:t>
            </a:r>
            <a:endParaRPr lang="en-US" altLang="en-US" sz="1200" b="1" dirty="0">
              <a:solidFill>
                <a:srgbClr val="0F1115"/>
              </a:solidFill>
              <a:latin typeface="Rubik" panose="020B0604020202020204" charset="-79"/>
              <a:cs typeface="Rubik" panose="020B0604020202020204" charset="-79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Parameters: @start_date, @end_date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Output: Daily transaction summary </a:t>
            </a:r>
            <a:endParaRPr lang="en-US" altLang="en-US" sz="1200" dirty="0">
              <a:solidFill>
                <a:srgbClr val="0F1115"/>
              </a:solidFill>
              <a:latin typeface="Rubik" panose="020B0604020202020204" charset="-79"/>
              <a:cs typeface="Rubik" panose="020B0604020202020204" charset="-79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Use case: Management reporting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0DFF59-3589-4533-A39E-733C3AB2B3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440" y="3097744"/>
            <a:ext cx="4775650" cy="15185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EC8FF9-73FB-4762-A104-AC3E4ECD49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1206614"/>
            <a:ext cx="3953427" cy="15051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40D1F67-0B5B-41ED-BE66-762DDE66A9E0}"/>
              </a:ext>
            </a:extLst>
          </p:cNvPr>
          <p:cNvSpPr txBox="1"/>
          <p:nvPr/>
        </p:nvSpPr>
        <p:spPr>
          <a:xfrm>
            <a:off x="5517972" y="3272407"/>
            <a:ext cx="3109588" cy="116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BalancePerCustomer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 SP: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Parameter: @customer_name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Output: Customer balance tracking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Use case: Customer service &amp; analysis</a:t>
            </a:r>
            <a:endParaRPr lang="en-US" sz="1200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D188D1A0-BA39-4E13-AD96-810090F6A029}"/>
              </a:ext>
            </a:extLst>
          </p:cNvPr>
          <p:cNvSpPr/>
          <p:nvPr/>
        </p:nvSpPr>
        <p:spPr>
          <a:xfrm>
            <a:off x="1643061" y="2571710"/>
            <a:ext cx="328905" cy="350806"/>
          </a:xfrm>
          <a:prstGeom prst="downArrow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5BEB7F1A-11AD-4E5D-A82C-B168C2600F1B}"/>
              </a:ext>
            </a:extLst>
          </p:cNvPr>
          <p:cNvSpPr/>
          <p:nvPr/>
        </p:nvSpPr>
        <p:spPr>
          <a:xfrm flipV="1">
            <a:off x="6384260" y="2866050"/>
            <a:ext cx="328905" cy="350806"/>
          </a:xfrm>
          <a:prstGeom prst="downArrow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23ec2985a68_1_56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3ec2985a68_1_56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23ec2985a68_1_56"/>
          <p:cNvSpPr txBox="1"/>
          <p:nvPr/>
        </p:nvSpPr>
        <p:spPr>
          <a:xfrm>
            <a:off x="234233" y="306295"/>
            <a:ext cx="4455392" cy="553968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098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</a:pPr>
            <a:r>
              <a:rPr lang="en" sz="2400" b="1" dirty="0">
                <a:latin typeface="Rubik"/>
                <a:ea typeface="Rubik"/>
                <a:cs typeface="Rubik"/>
                <a:sym typeface="Rubik"/>
              </a:rPr>
              <a:t>Technical Achievements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6BE230B-1236-4F59-A831-18C0A86FE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360" y="840041"/>
            <a:ext cx="3404778" cy="1354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Successfully integrated 8 data sources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Implemented automated ETL processes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Built optimized data warehouse structure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Developed parameterized stored procedures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Ensured data quality and no duplicates </a:t>
            </a:r>
          </a:p>
        </p:txBody>
      </p:sp>
      <p:sp>
        <p:nvSpPr>
          <p:cNvPr id="10" name="Google Shape;144;g23ec2985a68_1_56">
            <a:extLst>
              <a:ext uri="{FF2B5EF4-FFF2-40B4-BE49-F238E27FC236}">
                <a16:creationId xmlns:a16="http://schemas.microsoft.com/office/drawing/2014/main" id="{38C8B94E-0F87-4AB7-B0BF-9FEEC7FEED25}"/>
              </a:ext>
            </a:extLst>
          </p:cNvPr>
          <p:cNvSpPr txBox="1"/>
          <p:nvPr/>
        </p:nvSpPr>
        <p:spPr>
          <a:xfrm>
            <a:off x="234233" y="2353864"/>
            <a:ext cx="8463000" cy="553968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098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</a:pPr>
            <a:r>
              <a:rPr lang="en" sz="2400" b="1" dirty="0">
                <a:latin typeface="Rubik"/>
                <a:ea typeface="Rubik"/>
                <a:cs typeface="Rubik"/>
                <a:sym typeface="Rubik"/>
              </a:rPr>
              <a:t>Business Impact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608FA186-0BEB-4B8A-9FC9-F25B1B1C0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1127" y="1454540"/>
            <a:ext cx="4315284" cy="1631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Challenge 1: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 Data Format Consistency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Solution: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Standardized data formats in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tMap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Challenge 2: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Duplicate Data Handling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Solution: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Implemented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tUniqRow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 with proper key fields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Challenge 3: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Complex Balance Calculations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accent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Solution: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 Used CASE WHEN with SUM aggregation in SP</a:t>
            </a:r>
          </a:p>
        </p:txBody>
      </p:sp>
      <p:sp>
        <p:nvSpPr>
          <p:cNvPr id="14" name="Google Shape;144;g23ec2985a68_1_56">
            <a:extLst>
              <a:ext uri="{FF2B5EF4-FFF2-40B4-BE49-F238E27FC236}">
                <a16:creationId xmlns:a16="http://schemas.microsoft.com/office/drawing/2014/main" id="{0230327D-0004-4C05-BBFA-09F143E9D09C}"/>
              </a:ext>
            </a:extLst>
          </p:cNvPr>
          <p:cNvSpPr txBox="1"/>
          <p:nvPr/>
        </p:nvSpPr>
        <p:spPr>
          <a:xfrm>
            <a:off x="4139070" y="3271499"/>
            <a:ext cx="3002000" cy="553968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098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</a:pPr>
            <a:r>
              <a:rPr lang="en-US" sz="2400" b="1" dirty="0">
                <a:latin typeface="Rubik"/>
                <a:ea typeface="Rubik"/>
                <a:cs typeface="Rubik"/>
                <a:sym typeface="Rubik"/>
              </a:rPr>
              <a:t>Key Learnings:</a:t>
            </a:r>
            <a:endParaRPr lang="en" sz="2400" b="1" dirty="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" name="Google Shape;144;g23ec2985a68_1_56">
            <a:extLst>
              <a:ext uri="{FF2B5EF4-FFF2-40B4-BE49-F238E27FC236}">
                <a16:creationId xmlns:a16="http://schemas.microsoft.com/office/drawing/2014/main" id="{BC8E4154-A291-4D8E-B192-BA673AE3EF4A}"/>
              </a:ext>
            </a:extLst>
          </p:cNvPr>
          <p:cNvSpPr txBox="1"/>
          <p:nvPr/>
        </p:nvSpPr>
        <p:spPr>
          <a:xfrm>
            <a:off x="4139070" y="924363"/>
            <a:ext cx="5004930" cy="553968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098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</a:pPr>
            <a:r>
              <a:rPr lang="en-US" sz="2400" b="1" dirty="0">
                <a:latin typeface="Rubik"/>
                <a:ea typeface="Rubik"/>
                <a:cs typeface="Rubik"/>
                <a:sym typeface="Rubik"/>
              </a:rPr>
              <a:t>CHALLENGES &amp; SOLUTIONS</a:t>
            </a:r>
            <a:endParaRPr lang="en" sz="2400" b="1" dirty="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E8B82D-8FAC-4973-98D8-25740760EE12}"/>
              </a:ext>
            </a:extLst>
          </p:cNvPr>
          <p:cNvSpPr txBox="1"/>
          <p:nvPr/>
        </p:nvSpPr>
        <p:spPr>
          <a:xfrm>
            <a:off x="297521" y="2855602"/>
            <a:ext cx="3740727" cy="1170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Reporting time reduced from hours to seconds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Single source of truth for transaction data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Improved decision-making capabilities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Scalable solution for future growth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618FA4-77C5-413B-8774-010BF82F5AC1}"/>
              </a:ext>
            </a:extLst>
          </p:cNvPr>
          <p:cNvSpPr txBox="1"/>
          <p:nvPr/>
        </p:nvSpPr>
        <p:spPr>
          <a:xfrm>
            <a:off x="4232135" y="3772604"/>
            <a:ext cx="2908935" cy="893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Data integration best practices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ETL job optimization techniques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Rubik" panose="020B0604020202020204" charset="-79"/>
                <a:cs typeface="Rubik" panose="020B0604020202020204" charset="-79"/>
              </a:rPr>
              <a:t>Data warehouse design principles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ubik" panose="020B0604020202020204" charset="-79"/>
              <a:cs typeface="Rubik" panose="020B0604020202020204" charset="-79"/>
            </a:endParaRPr>
          </a:p>
        </p:txBody>
      </p:sp>
      <p:pic>
        <p:nvPicPr>
          <p:cNvPr id="21" name="Google Shape;154;p8">
            <a:extLst>
              <a:ext uri="{FF2B5EF4-FFF2-40B4-BE49-F238E27FC236}">
                <a16:creationId xmlns:a16="http://schemas.microsoft.com/office/drawing/2014/main" id="{2BB95ADE-22D3-4128-B31C-ED3A638950AA}"/>
              </a:ext>
            </a:extLst>
          </p:cNvPr>
          <p:cNvPicPr preferRelativeResize="0"/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363360" y="4191543"/>
            <a:ext cx="1697427" cy="6717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4059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9FAB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8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5425" y="4262625"/>
            <a:ext cx="1399901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8"/>
          <p:cNvSpPr txBox="1"/>
          <p:nvPr/>
        </p:nvSpPr>
        <p:spPr>
          <a:xfrm>
            <a:off x="2376000" y="1939850"/>
            <a:ext cx="4392000" cy="877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019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" sz="4500" b="1" i="0" u="none" strike="noStrike" cap="non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Thank You</a:t>
            </a:r>
            <a:endParaRPr sz="2000" b="0" i="0" u="none" strike="noStrike" cap="none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4314750" y="4248575"/>
            <a:ext cx="457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0" i="0" u="none" strike="noStrike" cap="none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X</a:t>
            </a:r>
            <a:endParaRPr sz="3000" b="0" i="0" u="none" strike="noStrike" cap="none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pic>
        <p:nvPicPr>
          <p:cNvPr id="154" name="Google Shape;154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0625" y="4140050"/>
            <a:ext cx="2257425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775</Words>
  <Application>Microsoft Office PowerPoint</Application>
  <PresentationFormat>On-screen Show (16:9)</PresentationFormat>
  <Paragraphs>106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Rubik</vt:lpstr>
      <vt:lpstr>Rubik Light</vt:lpstr>
      <vt:lpstr>Rubik Medium</vt:lpstr>
      <vt:lpstr>Wingdings</vt:lpstr>
      <vt:lpstr>Rubik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 NoVo</cp:lastModifiedBy>
  <cp:revision>22</cp:revision>
  <dcterms:modified xsi:type="dcterms:W3CDTF">2025-11-03T05:13:08Z</dcterms:modified>
</cp:coreProperties>
</file>